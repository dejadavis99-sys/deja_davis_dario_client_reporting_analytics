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65" r:id="rId4"/>
    <p:sldId id="260" r:id="rId5"/>
    <p:sldId id="261" r:id="rId6"/>
    <p:sldId id="266" r:id="rId7"/>
    <p:sldId id="262" r:id="rId8"/>
    <p:sldId id="263" r:id="rId9"/>
    <p:sldId id="269" r:id="rId10"/>
    <p:sldId id="268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790"/>
    <p:restoredTop sz="94662"/>
  </p:normalViewPr>
  <p:slideViewPr>
    <p:cSldViewPr snapToGrid="0">
      <p:cViewPr varScale="1">
        <p:scale>
          <a:sx n="63" d="100"/>
          <a:sy n="63" d="100"/>
        </p:scale>
        <p:origin x="192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B337C-0007-7840-944E-D1C8D0F34B20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F5F96F-BAFF-3D4C-85E7-012F976FC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36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D9969-9704-D4A0-F345-8E701D1983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Client Reporting &amp; Analytics Business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CBE0BC-298E-8CBD-B873-463B3349B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2971800"/>
          </a:xfrm>
        </p:spPr>
        <p:txBody>
          <a:bodyPr/>
          <a:lstStyle/>
          <a:p>
            <a:r>
              <a:rPr lang="en-US" i="1"/>
              <a:t>Population Health Insights &amp; Illustrative Member Engagement Analysis</a:t>
            </a:r>
            <a:br>
              <a:rPr lang="en-US"/>
            </a:br>
            <a:r>
              <a:rPr lang="en-US"/>
              <a:t>Prepared for: </a:t>
            </a:r>
            <a:r>
              <a:rPr lang="en-US" b="1"/>
              <a:t>Client Population Health &amp; Program Leadership</a:t>
            </a:r>
            <a:endParaRPr lang="en-US"/>
          </a:p>
          <a:p>
            <a:r>
              <a:rPr lang="en-US"/>
              <a:t>Prepared by: Deja Davis</a:t>
            </a:r>
          </a:p>
          <a:p>
            <a:r>
              <a:rPr lang="en-US"/>
              <a:t>August 2026</a:t>
            </a:r>
          </a:p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D0B6E0-BB60-684B-746B-100DB5249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0852" y="5445760"/>
            <a:ext cx="11721148" cy="1142681"/>
          </a:xfrm>
        </p:spPr>
        <p:txBody>
          <a:bodyPr/>
          <a:lstStyle/>
          <a:p>
            <a:r>
              <a:rPr lang="en-US"/>
              <a:t>CDC analysis uses public population health data. Member-level analysis uses a separate synthetic/illustrative cohort and contains no real patient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5001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4AC9A-7D97-AC1F-0C26-3F35E5826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586" y="1056640"/>
            <a:ext cx="11700828" cy="1310640"/>
          </a:xfrm>
        </p:spPr>
        <p:txBody>
          <a:bodyPr>
            <a:normAutofit fontScale="90000"/>
          </a:bodyPr>
          <a:lstStyle/>
          <a:p>
            <a:r>
              <a:rPr lang="en-US" sz="3600"/>
              <a:t>The analysis identifies measurable population-health burden and a clear opportunity to improve member follow-up</a:t>
            </a:r>
            <a:br>
              <a:rPr lang="en-US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164E8B-1086-1BFF-2758-9BAEECDCB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8146" y="2011680"/>
            <a:ext cx="11538268" cy="4846320"/>
          </a:xfrm>
        </p:spPr>
        <p:txBody>
          <a:bodyPr>
            <a:normAutofit/>
          </a:bodyPr>
          <a:lstStyle/>
          <a:p>
            <a:r>
              <a:rPr lang="en-US" b="1"/>
              <a:t>POPULATION HEALTH</a:t>
            </a:r>
            <a:br>
              <a:rPr lang="en-US"/>
            </a:br>
            <a:r>
              <a:rPr lang="en-US"/>
              <a:t>Obesity represented the highest average prevalence among the four analyzed CDC measures at </a:t>
            </a:r>
            <a:r>
              <a:rPr lang="en-US" b="1"/>
              <a:t>37.63%</a:t>
            </a:r>
            <a:r>
              <a:rPr lang="en-US"/>
              <a:t>, followed by high blood pressure at </a:t>
            </a:r>
            <a:r>
              <a:rPr lang="en-US" b="1"/>
              <a:t>33.54%</a:t>
            </a:r>
            <a:r>
              <a:rPr lang="en-US"/>
              <a:t>.</a:t>
            </a:r>
          </a:p>
          <a:p>
            <a:r>
              <a:rPr lang="en-US" b="1"/>
              <a:t>GEOGRAPHIC CONTEXT</a:t>
            </a:r>
            <a:br>
              <a:rPr lang="en-US"/>
            </a:br>
            <a:r>
              <a:rPr lang="en-US"/>
              <a:t>Population-health burden varied geographically, while obesity and physical inactivity showed a strong positive association (</a:t>
            </a:r>
            <a:r>
              <a:rPr lang="en-US" b="1"/>
              <a:t>r ≈ 0.83</a:t>
            </a:r>
            <a:r>
              <a:rPr lang="en-US"/>
              <a:t>).</a:t>
            </a:r>
          </a:p>
          <a:p>
            <a:r>
              <a:rPr lang="en-US" b="1"/>
              <a:t>MEMBER FOLLOW-UP</a:t>
            </a:r>
            <a:br>
              <a:rPr lang="en-US"/>
            </a:br>
            <a:r>
              <a:rPr lang="en-US"/>
              <a:t>In the synthetic cohort, </a:t>
            </a:r>
            <a:r>
              <a:rPr lang="en-US" b="1"/>
              <a:t>463 of 600 members (77.2%)</a:t>
            </a:r>
            <a:r>
              <a:rPr lang="en-US"/>
              <a:t> had follow-up data.</a:t>
            </a:r>
          </a:p>
          <a:p>
            <a:r>
              <a:rPr lang="en-US" b="1"/>
              <a:t>CLIENT OPPORTUNITY</a:t>
            </a:r>
            <a:br>
              <a:rPr lang="en-US"/>
            </a:br>
            <a:r>
              <a:rPr lang="en-US"/>
              <a:t>Follow-up ranged from </a:t>
            </a:r>
            <a:r>
              <a:rPr lang="en-US" b="1"/>
              <a:t>60.8% among low-engagement members to 94.2% among high-engagement members</a:t>
            </a:r>
            <a:r>
              <a:rPr lang="en-US"/>
              <a:t>, identifying lower-engagement members as the clearest outreach opportunity.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163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8EAC8-FB5D-CABE-DC3F-6F5C63713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4159"/>
            <a:ext cx="11684000" cy="1905000"/>
          </a:xfrm>
        </p:spPr>
        <p:txBody>
          <a:bodyPr/>
          <a:lstStyle/>
          <a:p>
            <a:r>
              <a:rPr lang="en-US"/>
              <a:t>The analysis combines population-level CDC context with a separate 600-member synthetic cohort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7B6E1-E351-06C0-ADCA-3C79206F0B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/>
              <a:t>PUBLIC HEALTH CONTEXT</a:t>
            </a:r>
            <a:endParaRPr lang="en-US"/>
          </a:p>
          <a:p>
            <a:pPr lvl="0"/>
            <a:r>
              <a:rPr lang="en-US"/>
              <a:t>CDC public API data </a:t>
            </a:r>
          </a:p>
          <a:p>
            <a:pPr lvl="0"/>
            <a:r>
              <a:rPr lang="en-US"/>
              <a:t>Four cardiometabolic measures </a:t>
            </a:r>
          </a:p>
          <a:p>
            <a:pPr lvl="0"/>
            <a:r>
              <a:rPr lang="en-US"/>
              <a:t>State-level prevalence analysis </a:t>
            </a:r>
          </a:p>
          <a:p>
            <a:pPr lvl="0"/>
            <a:r>
              <a:rPr lang="en-US"/>
              <a:t>Population-level external context</a:t>
            </a:r>
          </a:p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47533D-1CC0-5F22-10B5-64974A1C2C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/>
              <a:t>SYNTHETIC MEMBER ANALYSIS</a:t>
            </a:r>
            <a:endParaRPr lang="en-US"/>
          </a:p>
          <a:p>
            <a:pPr lvl="0"/>
            <a:r>
              <a:rPr lang="en-US" b="1"/>
              <a:t>600 enrolled members</a:t>
            </a:r>
            <a:r>
              <a:rPr lang="en-US"/>
              <a:t> </a:t>
            </a:r>
          </a:p>
          <a:p>
            <a:pPr lvl="0"/>
            <a:r>
              <a:rPr lang="en-US" b="1"/>
              <a:t>463 with follow-up</a:t>
            </a:r>
            <a:r>
              <a:rPr lang="en-US"/>
              <a:t> </a:t>
            </a:r>
          </a:p>
          <a:p>
            <a:pPr lvl="0"/>
            <a:r>
              <a:rPr lang="en-US" b="1"/>
              <a:t>77.2% follow-up coverage</a:t>
            </a:r>
            <a:r>
              <a:rPr lang="en-US"/>
              <a:t> </a:t>
            </a:r>
          </a:p>
          <a:p>
            <a:pPr lvl="0"/>
            <a:r>
              <a:rPr lang="en-US"/>
              <a:t>Engagement segmentation: Low / Medium / High </a:t>
            </a:r>
          </a:p>
          <a:p>
            <a:pPr lvl="0"/>
            <a:r>
              <a:rPr lang="en-US"/>
              <a:t>Enrollment → approximately 6-month follow-up</a:t>
            </a:r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32FC31-932A-57F2-4A42-97674BF6F505}"/>
              </a:ext>
            </a:extLst>
          </p:cNvPr>
          <p:cNvSpPr txBox="1"/>
          <p:nvPr/>
        </p:nvSpPr>
        <p:spPr>
          <a:xfrm>
            <a:off x="1645920" y="2032000"/>
            <a:ext cx="863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analysis combines public population-health data with a separate synthetic member cohort.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A921FE-48DA-49D4-FE60-B8EC7E64E615}"/>
              </a:ext>
            </a:extLst>
          </p:cNvPr>
          <p:cNvSpPr txBox="1"/>
          <p:nvPr/>
        </p:nvSpPr>
        <p:spPr>
          <a:xfrm>
            <a:off x="1141412" y="5567680"/>
            <a:ext cx="9140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Important:</a:t>
            </a:r>
            <a:r>
              <a:rPr lang="en-US"/>
              <a:t> The synthetic member cohort is illustrative and is not linked to CDC records or real DarioHealth patient data.</a:t>
            </a:r>
          </a:p>
        </p:txBody>
      </p:sp>
    </p:spTree>
    <p:extLst>
      <p:ext uri="{BB962C8B-B14F-4D97-AF65-F5344CB8AC3E}">
        <p14:creationId xmlns:p14="http://schemas.microsoft.com/office/powerpoint/2010/main" val="4160753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39319-8530-D1E6-B669-6A987607A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2560" y="-142240"/>
            <a:ext cx="12354560" cy="2250511"/>
          </a:xfrm>
        </p:spPr>
        <p:txBody>
          <a:bodyPr>
            <a:normAutofit fontScale="90000"/>
          </a:bodyPr>
          <a:lstStyle/>
          <a:p>
            <a:r>
              <a:rPr lang="en-US"/>
              <a:t>Obesity represents the highest average prevalence across the four analyzed cardiometabolic measures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802C65-AC54-D8C2-FFFC-3C4F1FF35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756972" y="2819157"/>
            <a:ext cx="7152640" cy="2819399"/>
          </a:xfrm>
        </p:spPr>
        <p:txBody>
          <a:bodyPr>
            <a:normAutofit/>
          </a:bodyPr>
          <a:lstStyle/>
          <a:p>
            <a:r>
              <a:rPr lang="en-US" b="1"/>
              <a:t>Average prevalence</a:t>
            </a:r>
            <a:endParaRPr lang="en-US"/>
          </a:p>
          <a:p>
            <a:pPr lvl="0"/>
            <a:r>
              <a:rPr lang="en-US"/>
              <a:t>Obesity — </a:t>
            </a:r>
            <a:r>
              <a:rPr lang="en-US" b="1"/>
              <a:t>37.63%</a:t>
            </a:r>
            <a:r>
              <a:rPr lang="en-US"/>
              <a:t> </a:t>
            </a:r>
          </a:p>
          <a:p>
            <a:pPr lvl="0"/>
            <a:r>
              <a:rPr lang="en-US"/>
              <a:t>High blood pressure — </a:t>
            </a:r>
            <a:r>
              <a:rPr lang="en-US" b="1"/>
              <a:t>33.54%</a:t>
            </a:r>
            <a:r>
              <a:rPr lang="en-US"/>
              <a:t> </a:t>
            </a:r>
          </a:p>
          <a:p>
            <a:pPr lvl="0"/>
            <a:r>
              <a:rPr lang="en-US"/>
              <a:t>Physical inactivity — </a:t>
            </a:r>
            <a:r>
              <a:rPr lang="en-US" b="1"/>
              <a:t>27.02%</a:t>
            </a:r>
            <a:r>
              <a:rPr lang="en-US"/>
              <a:t> </a:t>
            </a:r>
          </a:p>
          <a:p>
            <a:pPr lvl="0"/>
            <a:r>
              <a:rPr lang="en-US"/>
              <a:t>Diabetes — </a:t>
            </a:r>
            <a:r>
              <a:rPr lang="en-US" b="1"/>
              <a:t>11.17%</a:t>
            </a:r>
            <a:endParaRPr lang="en-US"/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BB9192-94D8-FCDC-5A81-5DE8B988C3FD}"/>
              </a:ext>
            </a:extLst>
          </p:cNvPr>
          <p:cNvSpPr txBox="1"/>
          <p:nvPr/>
        </p:nvSpPr>
        <p:spPr>
          <a:xfrm>
            <a:off x="0" y="1900006"/>
            <a:ext cx="54051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Cardiometabolic burden varies meaningfully across the four population-health measures analyzed.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CDE8A1-A8BA-B74D-8C0D-89F766F5688F}"/>
              </a:ext>
            </a:extLst>
          </p:cNvPr>
          <p:cNvSpPr txBox="1"/>
          <p:nvPr/>
        </p:nvSpPr>
        <p:spPr>
          <a:xfrm>
            <a:off x="65988" y="5091767"/>
            <a:ext cx="58622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Client implication:</a:t>
            </a:r>
            <a:r>
              <a:rPr lang="en-US"/>
              <a:t> The population-health context supports prioritizing cardiometabolic risk monitoring while recognizing meaningful variation across measures and geographies.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01F5FB-5D00-5F93-1F75-5D8484EC9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256" y="1846554"/>
            <a:ext cx="6390744" cy="501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609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494F4-2B6C-EC79-66D3-2DC739CB5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" y="-43180"/>
            <a:ext cx="12080239" cy="1506220"/>
          </a:xfrm>
        </p:spPr>
        <p:txBody>
          <a:bodyPr>
            <a:normAutofit fontScale="90000"/>
          </a:bodyPr>
          <a:lstStyle/>
          <a:p>
            <a:r>
              <a:rPr lang="en-US"/>
              <a:t>Geographic variation identifies populations that may warrant greater program attention</a:t>
            </a:r>
            <a:br>
              <a:rPr lang="en-US"/>
            </a:br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979B9B3-918D-899B-3957-C7F5C572C1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80" y="1885950"/>
            <a:ext cx="12136119" cy="44335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F126FD-4026-98C2-EF6D-55A775C604AA}"/>
              </a:ext>
            </a:extLst>
          </p:cNvPr>
          <p:cNvSpPr txBox="1"/>
          <p:nvPr/>
        </p:nvSpPr>
        <p:spPr>
          <a:xfrm>
            <a:off x="55881" y="1031200"/>
            <a:ext cx="112537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Geographic variation identifies populations that may warrant greater program attention. The highest-prevalence states cluster within a relatively narrow range, suggesting geographically targeted monitoring rather than a single extreme outlier.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B86C1-E2F7-0CF2-2BC0-6B852379C0DD}"/>
              </a:ext>
            </a:extLst>
          </p:cNvPr>
          <p:cNvSpPr txBox="1"/>
          <p:nvPr/>
        </p:nvSpPr>
        <p:spPr>
          <a:xfrm>
            <a:off x="0" y="6154519"/>
            <a:ext cx="112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These CDC estimates provide external population-health context and should not be interpreted as outcomes for the synthetic member cohort.</a:t>
            </a:r>
          </a:p>
        </p:txBody>
      </p:sp>
    </p:spTree>
    <p:extLst>
      <p:ext uri="{BB962C8B-B14F-4D97-AF65-F5344CB8AC3E}">
        <p14:creationId xmlns:p14="http://schemas.microsoft.com/office/powerpoint/2010/main" val="2143864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856CC-C981-0FB9-4E3A-EFB585836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99" y="0"/>
            <a:ext cx="9905998" cy="2174241"/>
          </a:xfrm>
        </p:spPr>
        <p:txBody>
          <a:bodyPr>
            <a:normAutofit fontScale="90000"/>
          </a:bodyPr>
          <a:lstStyle/>
          <a:p>
            <a:r>
              <a:rPr lang="en-US"/>
              <a:t>Higher physical inactivity is strongly associated with higher obesity prevalence across the analyzed population data.</a:t>
            </a:r>
            <a:br>
              <a:rPr lang="en-US"/>
            </a:br>
            <a:br>
              <a:rPr lang="en-US"/>
            </a:br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157A683-0CD0-2D58-A980-F3E6306D39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2153921"/>
            <a:ext cx="7315199" cy="451358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98AEE3-7492-0A57-FDC8-BFFD245A5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315199" y="2593022"/>
            <a:ext cx="4876801" cy="4264978"/>
          </a:xfrm>
        </p:spPr>
        <p:txBody>
          <a:bodyPr>
            <a:normAutofit/>
          </a:bodyPr>
          <a:lstStyle/>
          <a:p>
            <a:r>
              <a:rPr lang="en-US" b="1"/>
              <a:t>r ≈ 0.83</a:t>
            </a:r>
          </a:p>
          <a:p>
            <a:r>
              <a:rPr lang="en-US" b="1"/>
              <a:t>Strong positive association</a:t>
            </a:r>
            <a:endParaRPr lang="en-US"/>
          </a:p>
          <a:p>
            <a:r>
              <a:rPr lang="en-US"/>
              <a:t>States with higher physical inactivity prevalence tended to also have higher obesity prevalence.</a:t>
            </a:r>
          </a:p>
          <a:p>
            <a:r>
              <a:rPr lang="en-US"/>
              <a:t>This is a descriptive ecological association and does not establish causality or individual-level risk.</a:t>
            </a:r>
          </a:p>
        </p:txBody>
      </p:sp>
    </p:spTree>
    <p:extLst>
      <p:ext uri="{BB962C8B-B14F-4D97-AF65-F5344CB8AC3E}">
        <p14:creationId xmlns:p14="http://schemas.microsoft.com/office/powerpoint/2010/main" val="4131213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31DF8-191E-CED1-43F1-E2B2D3DA3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5238"/>
            <a:ext cx="12010599" cy="1905000"/>
          </a:xfrm>
        </p:spPr>
        <p:txBody>
          <a:bodyPr/>
          <a:lstStyle/>
          <a:p>
            <a:r>
              <a:rPr lang="en-US"/>
              <a:t>Follow-up coverage increases substantially across higher engagement tiers in the synthetic cohort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CC4B3-05C3-B6FB-05CC-4C29EFD70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91360" y="2985611"/>
            <a:ext cx="4103052" cy="3394233"/>
          </a:xfrm>
        </p:spPr>
        <p:txBody>
          <a:bodyPr>
            <a:normAutofit lnSpcReduction="10000"/>
          </a:bodyPr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4B6BA8-753F-4F54-DC05-BC5BF2C9DE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98816" y="1678482"/>
            <a:ext cx="5554028" cy="4535399"/>
          </a:xfrm>
        </p:spPr>
        <p:txBody>
          <a:bodyPr>
            <a:normAutofit lnSpcReduction="10000"/>
          </a:bodyPr>
          <a:lstStyle/>
          <a:p>
            <a:r>
              <a:rPr lang="en-US" b="1"/>
              <a:t>463 / 600</a:t>
            </a:r>
          </a:p>
          <a:p>
            <a:r>
              <a:rPr lang="en-US"/>
              <a:t>members had follow-up</a:t>
            </a:r>
          </a:p>
          <a:p>
            <a:r>
              <a:rPr lang="en-US" b="1"/>
              <a:t>77.2%</a:t>
            </a:r>
          </a:p>
          <a:p>
            <a:r>
              <a:rPr lang="en-US"/>
              <a:t>overall follow-up coverage</a:t>
            </a:r>
          </a:p>
          <a:p>
            <a:r>
              <a:rPr lang="en-US" b="1"/>
              <a:t>Low engagement:</a:t>
            </a:r>
            <a:r>
              <a:rPr lang="en-US"/>
              <a:t> 118/194 — </a:t>
            </a:r>
            <a:r>
              <a:rPr lang="en-US" b="1"/>
              <a:t>60.8%</a:t>
            </a:r>
            <a:br>
              <a:rPr lang="en-US"/>
            </a:br>
            <a:r>
              <a:rPr lang="en-US" b="1"/>
              <a:t>Medium:</a:t>
            </a:r>
            <a:r>
              <a:rPr lang="en-US"/>
              <a:t> 184/235 — </a:t>
            </a:r>
            <a:r>
              <a:rPr lang="en-US" b="1"/>
              <a:t>78.3%</a:t>
            </a:r>
            <a:br>
              <a:rPr lang="en-US"/>
            </a:br>
            <a:r>
              <a:rPr lang="en-US" b="1"/>
              <a:t>Hig</a:t>
            </a:r>
            <a:r>
              <a:rPr lang="en-US"/>
              <a:t>Lower-engagement members had substantially lower follow-up coverage, identifying a potential target for proactive outreach.</a:t>
            </a:r>
            <a:r>
              <a:rPr lang="en-US" b="1"/>
              <a:t>h:</a:t>
            </a:r>
            <a:r>
              <a:rPr lang="en-US"/>
              <a:t> 161/171 — </a:t>
            </a:r>
            <a:r>
              <a:rPr lang="en-US" b="1"/>
              <a:t>94.2%</a:t>
            </a:r>
          </a:p>
          <a:p>
            <a:br>
              <a:rPr lang="en-US"/>
            </a:br>
            <a:r>
              <a:rPr lang="en-US" b="1"/>
              <a:t>“Higher engagement was associated with higher follow-up completion in the synthetic cohort.”</a:t>
            </a:r>
            <a:r>
              <a:rPr lang="en-US"/>
              <a:t> We should </a:t>
            </a:r>
            <a:r>
              <a:rPr lang="en-US" i="1"/>
              <a:t>not</a:t>
            </a:r>
            <a:r>
              <a:rPr lang="en-US"/>
              <a:t> claim engagement caused the improvement.</a:t>
            </a:r>
          </a:p>
          <a:p>
            <a:endParaRPr lang="en-US" b="1"/>
          </a:p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D00DB4-B1C2-154D-62C3-CCE73F337735}"/>
              </a:ext>
            </a:extLst>
          </p:cNvPr>
          <p:cNvSpPr txBox="1"/>
          <p:nvPr/>
        </p:nvSpPr>
        <p:spPr>
          <a:xfrm>
            <a:off x="181401" y="1278859"/>
            <a:ext cx="8527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Follow-up coverage was 77.2%, with meaningful variation across engagement segments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896265-BFE8-70EF-62C8-FCA8CB5562A4}"/>
              </a:ext>
            </a:extLst>
          </p:cNvPr>
          <p:cNvSpPr txBox="1"/>
          <p:nvPr/>
        </p:nvSpPr>
        <p:spPr>
          <a:xfrm>
            <a:off x="0" y="6156960"/>
            <a:ext cx="12152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Synthetic/illustrative data; association should not be interpreted as evidence that engagement caused improved follow-up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DF34C3-C7BD-6AB6-BDCF-29B3E5349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2112"/>
            <a:ext cx="6598816" cy="411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079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FC95-C416-108B-F2FD-C19772D84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" y="39467"/>
            <a:ext cx="6659879" cy="1371600"/>
          </a:xfrm>
        </p:spPr>
        <p:txBody>
          <a:bodyPr/>
          <a:lstStyle/>
          <a:p>
            <a:r>
              <a:rPr lang="en-US"/>
              <a:t>Nearly one in four enrolled members lack follow-up, limiting outcome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5D842-A680-2B06-C8BE-E986B5A54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9" y="275044"/>
            <a:ext cx="5943601" cy="6307911"/>
          </a:xfrm>
        </p:spPr>
        <p:txBody>
          <a:bodyPr>
            <a:noAutofit/>
          </a:bodyPr>
          <a:lstStyle/>
          <a:p>
            <a:r>
              <a:rPr lang="en-US" sz="2400"/>
              <a:t>Big numbers:</a:t>
            </a:r>
          </a:p>
          <a:p>
            <a:r>
              <a:rPr lang="en-US" sz="2400" b="1"/>
              <a:t>600</a:t>
            </a:r>
            <a:r>
              <a:rPr lang="en-US" sz="2400"/>
              <a:t> enrolled</a:t>
            </a:r>
            <a:br>
              <a:rPr lang="en-US" sz="2400"/>
            </a:br>
            <a:r>
              <a:rPr lang="en-US" sz="2400"/>
              <a:t>↓</a:t>
            </a:r>
            <a:br>
              <a:rPr lang="en-US" sz="2400"/>
            </a:br>
            <a:r>
              <a:rPr lang="en-US" sz="2400" b="1"/>
              <a:t>463</a:t>
            </a:r>
            <a:r>
              <a:rPr lang="en-US" sz="2400"/>
              <a:t> follow-up</a:t>
            </a:r>
            <a:br>
              <a:rPr lang="en-US" sz="2400"/>
            </a:br>
            <a:r>
              <a:rPr lang="en-US" sz="2400"/>
              <a:t>↓</a:t>
            </a:r>
            <a:br>
              <a:rPr lang="en-US" sz="2400"/>
            </a:br>
            <a:r>
              <a:rPr lang="en-US" sz="2400" b="1"/>
              <a:t>137</a:t>
            </a:r>
            <a:r>
              <a:rPr lang="en-US" sz="2400"/>
              <a:t> without follow-up</a:t>
            </a:r>
          </a:p>
          <a:p>
            <a:r>
              <a:rPr lang="en-US" sz="2400"/>
              <a:t>That's </a:t>
            </a:r>
            <a:r>
              <a:rPr lang="en-US" sz="2400" b="1"/>
              <a:t>22.8% without follow-up</a:t>
            </a:r>
            <a:r>
              <a:rPr lang="en-US" sz="2400"/>
              <a:t>.</a:t>
            </a:r>
          </a:p>
          <a:p>
            <a:r>
              <a:rPr lang="en-US" sz="2400"/>
              <a:t>Reporting only the 463 members with follow-up could overstate performance if members with missing follow-up differ systematically from thosClient reporting should therefore show both the enrolled/intent-to-treat denominator and the follow-up/completer population.e retained.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AE84E-0A74-1469-837B-3D6DBA7E9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6400" y="2988488"/>
            <a:ext cx="6116319" cy="3412311"/>
          </a:xfrm>
        </p:spPr>
        <p:txBody>
          <a:bodyPr>
            <a:normAutofit/>
          </a:bodyPr>
          <a:lstStyle/>
          <a:p>
            <a:r>
              <a:rPr lang="en-US" sz="2400"/>
              <a:t>Translate findings into action: identify lower-engagement members for targeted outreach, monitor follow-up rates by engagement segment, establish recurring client KPIs, and use population-health context to inform program priorities.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1DD117-1DD2-AAC9-7E64-8F1279D8D3EE}"/>
              </a:ext>
            </a:extLst>
          </p:cNvPr>
          <p:cNvSpPr txBox="1"/>
          <p:nvPr/>
        </p:nvSpPr>
        <p:spPr>
          <a:xfrm>
            <a:off x="259079" y="1533712"/>
            <a:ext cx="64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Incomplete follow-up limits outcome interpretation and should be treated as a reporting finding—not hidden.</a:t>
            </a:r>
          </a:p>
        </p:txBody>
      </p:sp>
    </p:spTree>
    <p:extLst>
      <p:ext uri="{BB962C8B-B14F-4D97-AF65-F5344CB8AC3E}">
        <p14:creationId xmlns:p14="http://schemas.microsoft.com/office/powerpoint/2010/main" val="3937454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671AF-A89A-D140-6F7C-4B9C40E2D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465" y="609600"/>
            <a:ext cx="5122606" cy="1905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ILLUSTRATIVE CLINICAL OUTCOMES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FD6EFD-7E98-2492-C9E8-900A04457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20465" y="2666999"/>
            <a:ext cx="5122606" cy="321627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Font typeface="Arial"/>
              <a:buChar char="•"/>
            </a:pPr>
            <a:r>
              <a:rPr lang="en-US"/>
              <a:t>Among members with observed follow-up, all four illustrative clinical measures improved from baseline to approximately six months.</a:t>
            </a:r>
          </a:p>
          <a:p>
            <a:r>
              <a:rPr lang="en-US" b="1"/>
              <a:t>OBSERVED CHANGE</a:t>
            </a:r>
            <a:endParaRPr lang="en-US"/>
          </a:p>
          <a:p>
            <a:r>
              <a:rPr lang="en-US" b="1"/>
              <a:t>Weight:</a:t>
            </a:r>
            <a:r>
              <a:rPr lang="en-US"/>
              <a:t> −3.41 kg (−3.49%)</a:t>
            </a:r>
            <a:br>
              <a:rPr lang="en-US"/>
            </a:br>
            <a:r>
              <a:rPr lang="en-US" b="1"/>
              <a:t>BMI:</a:t>
            </a:r>
            <a:r>
              <a:rPr lang="en-US"/>
              <a:t> −1.19 (−3.51%)</a:t>
            </a:r>
            <a:br>
              <a:rPr lang="en-US"/>
            </a:br>
            <a:r>
              <a:rPr lang="en-US" b="1"/>
              <a:t>Systolic BP:</a:t>
            </a:r>
            <a:r>
              <a:rPr lang="en-US"/>
              <a:t> −4.74 mmHg (−3.46%)</a:t>
            </a:r>
            <a:br>
              <a:rPr lang="en-US"/>
            </a:br>
            <a:r>
              <a:rPr lang="en-US" b="1"/>
              <a:t>HbA1c:</a:t>
            </a:r>
            <a:r>
              <a:rPr lang="en-US"/>
              <a:t> −0.28 percentage points (−4.20%)</a:t>
            </a:r>
          </a:p>
          <a:p>
            <a:r>
              <a:rPr lang="en-US" b="1"/>
              <a:t>Client implication:</a:t>
            </a:r>
            <a:br>
              <a:rPr lang="en-US"/>
            </a:br>
            <a:r>
              <a:rPr lang="en-US"/>
              <a:t>The illustrative cohort shows directionally favorable changes across weight, BMI, blood pressure, and glycemic control among members with follow-up.</a:t>
            </a:r>
          </a:p>
          <a:p>
            <a:pPr>
              <a:buFont typeface="Arial"/>
              <a:buChar char="•"/>
            </a:pPr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C959F53-A57E-67CB-F366-185312040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2766" y="609600"/>
            <a:ext cx="6277699" cy="5426074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B4A858-BA43-8BB2-262C-BB49072769D4}"/>
              </a:ext>
            </a:extLst>
          </p:cNvPr>
          <p:cNvSpPr txBox="1"/>
          <p:nvPr/>
        </p:nvSpPr>
        <p:spPr>
          <a:xfrm>
            <a:off x="739714" y="6035674"/>
            <a:ext cx="9977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463 of 600 members had observed follow-up (77.2%). Results are descriptive and should not be interpreted as causal program effects.</a:t>
            </a:r>
          </a:p>
        </p:txBody>
      </p:sp>
    </p:spTree>
    <p:extLst>
      <p:ext uri="{BB962C8B-B14F-4D97-AF65-F5344CB8AC3E}">
        <p14:creationId xmlns:p14="http://schemas.microsoft.com/office/powerpoint/2010/main" val="2308847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C401B-DCF1-EEDD-B7FA-2A237FB6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770" y="183466"/>
            <a:ext cx="11345229" cy="1905000"/>
          </a:xfrm>
        </p:spPr>
        <p:txBody>
          <a:bodyPr/>
          <a:lstStyle/>
          <a:p>
            <a:r>
              <a:rPr lang="en-US"/>
              <a:t>Targeted outreach and recurring segment monitoring can address the largest observed follow-up gap.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F9812-B1E9-87ED-1429-7D07C13A2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8292" y="3545840"/>
            <a:ext cx="3430588" cy="3124201"/>
          </a:xfrm>
        </p:spPr>
        <p:txBody>
          <a:bodyPr/>
          <a:lstStyle/>
          <a:p>
            <a:r>
              <a:rPr lang="en-US" b="1"/>
              <a:t>1. TARGET</a:t>
            </a:r>
          </a:p>
          <a:p>
            <a:r>
              <a:rPr lang="en-US"/>
              <a:t>Prioritize lower-engagement members for proactive outreach, since this segment demonstrated the lowest illustrative follow-up coverage (</a:t>
            </a:r>
            <a:r>
              <a:rPr lang="en-US" b="1"/>
              <a:t>60.8%</a:t>
            </a:r>
            <a:r>
              <a:rPr lang="en-US"/>
              <a:t>).</a:t>
            </a:r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EAA8C-7253-9C21-E446-52EAC63D5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7251" y="3393440"/>
            <a:ext cx="3430588" cy="3124200"/>
          </a:xfrm>
        </p:spPr>
        <p:txBody>
          <a:bodyPr/>
          <a:lstStyle/>
          <a:p>
            <a:r>
              <a:rPr lang="en-US" b="1"/>
              <a:t>2. MONITOR</a:t>
            </a:r>
          </a:p>
          <a:p>
            <a:r>
              <a:rPr lang="en-US"/>
              <a:t>Establish recurring reporting for enrollment, engagement, follow-up coverage, missingness, and outcomes by segment.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B4AF36-B398-BE95-EE2E-E9402DE1628D}"/>
              </a:ext>
            </a:extLst>
          </p:cNvPr>
          <p:cNvSpPr txBox="1"/>
          <p:nvPr/>
        </p:nvSpPr>
        <p:spPr>
          <a:xfrm>
            <a:off x="629920" y="2194560"/>
            <a:ext cx="10200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Targeted outreach and recurring segment-level monitoring can turn these findings into client action.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A90A54-32B7-78EE-B3D2-CEA00ED6527E}"/>
              </a:ext>
            </a:extLst>
          </p:cNvPr>
          <p:cNvSpPr txBox="1"/>
          <p:nvPr/>
        </p:nvSpPr>
        <p:spPr>
          <a:xfrm>
            <a:off x="8469948" y="3652520"/>
            <a:ext cx="34137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3. INFORM</a:t>
            </a:r>
          </a:p>
          <a:p>
            <a:r>
              <a:rPr lang="en-US"/>
              <a:t>Use external population-health and geographic context alongside client-specific data to inform program priorities—not as a substitute for member-level outcomes.</a:t>
            </a:r>
          </a:p>
        </p:txBody>
      </p:sp>
    </p:spTree>
    <p:extLst>
      <p:ext uri="{BB962C8B-B14F-4D97-AF65-F5344CB8AC3E}">
        <p14:creationId xmlns:p14="http://schemas.microsoft.com/office/powerpoint/2010/main" val="248668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F8A4F-D293-0D6B-6529-C7E866F5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948158" cy="1905000"/>
          </a:xfrm>
        </p:spPr>
        <p:txBody>
          <a:bodyPr/>
          <a:lstStyle/>
          <a:p>
            <a:r>
              <a:rPr lang="en-US"/>
              <a:t>The framework is reproducible and client-ready, but synthetic data and missing follow-up limit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D7A33-3A70-74DF-034E-8E1E051602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8932" y="3124199"/>
            <a:ext cx="3410268" cy="3124201"/>
          </a:xfrm>
        </p:spPr>
        <p:txBody>
          <a:bodyPr>
            <a:normAutofit fontScale="77500" lnSpcReduction="20000"/>
          </a:bodyPr>
          <a:lstStyle/>
          <a:p>
            <a:r>
              <a:rPr lang="en-US" b="1"/>
              <a:t>METHODOLOGY</a:t>
            </a:r>
            <a:endParaRPr lang="en-US"/>
          </a:p>
          <a:p>
            <a:pPr lvl="0"/>
            <a:r>
              <a:rPr lang="en-US"/>
              <a:t>CDC public API </a:t>
            </a:r>
          </a:p>
          <a:p>
            <a:pPr lvl="0"/>
            <a:r>
              <a:rPr lang="en-US"/>
              <a:t>Python ETL + validation </a:t>
            </a:r>
          </a:p>
          <a:p>
            <a:pPr lvl="0"/>
            <a:r>
              <a:rPr lang="en-US"/>
              <a:t>Processed analytical datasets </a:t>
            </a:r>
          </a:p>
          <a:p>
            <a:pPr lvl="0"/>
            <a:r>
              <a:rPr lang="en-US"/>
              <a:t>Streamlit reporting </a:t>
            </a:r>
          </a:p>
          <a:p>
            <a:pPr lvl="0"/>
            <a:r>
              <a:rPr lang="en-US"/>
              <a:t>Automated QA checks</a:t>
            </a:r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F1D50C-254E-023D-7BDF-6AF444D038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8162" y="2824480"/>
            <a:ext cx="3129278" cy="3124200"/>
          </a:xfrm>
        </p:spPr>
        <p:txBody>
          <a:bodyPr>
            <a:normAutofit fontScale="77500" lnSpcReduction="20000"/>
          </a:bodyPr>
          <a:lstStyle/>
          <a:p>
            <a:r>
              <a:rPr lang="en-US" b="1"/>
              <a:t>LIMITATIONS</a:t>
            </a:r>
            <a:endParaRPr lang="en-US"/>
          </a:p>
          <a:p>
            <a:pPr lvl="0"/>
            <a:r>
              <a:rPr lang="en-US"/>
              <a:t>Member cohort is synthetic </a:t>
            </a:r>
          </a:p>
          <a:p>
            <a:pPr lvl="0"/>
            <a:r>
              <a:rPr lang="en-US"/>
              <a:t>No real patient data </a:t>
            </a:r>
          </a:p>
          <a:p>
            <a:pPr lvl="0"/>
            <a:r>
              <a:rPr lang="en-US"/>
              <a:t>Descriptive analysis </a:t>
            </a:r>
          </a:p>
          <a:p>
            <a:pPr lvl="0"/>
            <a:r>
              <a:rPr lang="en-US"/>
              <a:t>Missing follow-up </a:t>
            </a:r>
          </a:p>
          <a:p>
            <a:pPr lvl="0"/>
            <a:r>
              <a:rPr lang="en-US"/>
              <a:t>Population data cannot establish individual-level effects </a:t>
            </a:r>
          </a:p>
          <a:p>
            <a:pPr lvl="0"/>
            <a:r>
              <a:rPr lang="en-US"/>
              <a:t>Association ≠ causation</a:t>
            </a:r>
          </a:p>
          <a:p>
            <a:pPr lvl="0"/>
            <a:r>
              <a:rPr lang="en-US" b="1"/>
              <a:t>Potential confounding/self-selection into engagement</a:t>
            </a:r>
            <a:br>
              <a:rPr lang="en-US"/>
            </a:br>
            <a:r>
              <a:rPr lang="en-US" b="1"/>
              <a:t>No control/comparison group</a:t>
            </a:r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21B3B-5D55-3E4F-B905-F982E5785331}"/>
              </a:ext>
            </a:extLst>
          </p:cNvPr>
          <p:cNvSpPr txBox="1"/>
          <p:nvPr/>
        </p:nvSpPr>
        <p:spPr>
          <a:xfrm>
            <a:off x="1141412" y="1818640"/>
            <a:ext cx="82057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framework is reproducible and client-ready, while synthetic data and descriptive analysis appropriately limit interpretation.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01DCB-C49B-0FFA-F977-CC544BD8B564}"/>
              </a:ext>
            </a:extLst>
          </p:cNvPr>
          <p:cNvSpPr txBox="1"/>
          <p:nvPr/>
        </p:nvSpPr>
        <p:spPr>
          <a:xfrm>
            <a:off x="8331200" y="2824480"/>
            <a:ext cx="3657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NEXT STEPS</a:t>
            </a:r>
            <a:endParaRPr lang="en-US"/>
          </a:p>
          <a:p>
            <a:pPr lvl="0"/>
            <a:r>
              <a:rPr lang="en-US"/>
              <a:t>Apply framework to validated client data </a:t>
            </a:r>
          </a:p>
          <a:p>
            <a:pPr lvl="0"/>
            <a:r>
              <a:rPr lang="en-US"/>
              <a:t>Define clinical thresholds/outcomes </a:t>
            </a:r>
          </a:p>
          <a:p>
            <a:pPr lvl="0"/>
            <a:r>
              <a:rPr lang="en-US"/>
              <a:t>Validate baseline → follow-up change longitudinally.</a:t>
            </a:r>
          </a:p>
          <a:p>
            <a:pPr lvl="0"/>
            <a:r>
              <a:rPr lang="en-US"/>
              <a:t>Compare ITT and completer results </a:t>
            </a:r>
          </a:p>
          <a:p>
            <a:pPr lvl="0"/>
            <a:r>
              <a:rPr lang="en-US"/>
              <a:t>Monitor segment-level performance longitudinally</a:t>
            </a:r>
          </a:p>
        </p:txBody>
      </p:sp>
    </p:spTree>
    <p:extLst>
      <p:ext uri="{BB962C8B-B14F-4D97-AF65-F5344CB8AC3E}">
        <p14:creationId xmlns:p14="http://schemas.microsoft.com/office/powerpoint/2010/main" val="34853437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629</TotalTime>
  <Words>990</Words>
  <Application>Microsoft Macintosh PowerPoint</Application>
  <PresentationFormat>Widescreen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Century Gothic</vt:lpstr>
      <vt:lpstr>Mesh</vt:lpstr>
      <vt:lpstr>Client Reporting &amp; Analytics Business Review</vt:lpstr>
      <vt:lpstr>The analysis identifies measurable population-health burden and a clear opportunity to improve member follow-up </vt:lpstr>
      <vt:lpstr>The analysis combines population-level CDC context with a separate 600-member synthetic cohort</vt:lpstr>
      <vt:lpstr>Obesity represents the highest average prevalence across the four analyzed cardiometabolic measures</vt:lpstr>
      <vt:lpstr>Geographic variation identifies populations that may warrant greater program attention </vt:lpstr>
      <vt:lpstr>Higher physical inactivity is strongly associated with higher obesity prevalence across the analyzed population data.  </vt:lpstr>
      <vt:lpstr>Follow-up coverage increases substantially across higher engagement tiers in the synthetic cohort</vt:lpstr>
      <vt:lpstr>Nearly one in four enrolled members lack follow-up, limiting outcome interpretation</vt:lpstr>
      <vt:lpstr>ILLUSTRATIVE CLINICAL OUTCOMES</vt:lpstr>
      <vt:lpstr>Targeted outreach and recurring segment monitoring can address the largest observed follow-up gap.</vt:lpstr>
      <vt:lpstr>The framework is reproducible and client-ready, but synthetic data and missing follow-up limit interpretation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Deja Davis</dc:creator>
  <cp:lastModifiedBy>Deja Davis</cp:lastModifiedBy>
  <cp:revision>4</cp:revision>
  <dcterms:created xsi:type="dcterms:W3CDTF">2026-08-17T02:21:20Z</dcterms:created>
  <dcterms:modified xsi:type="dcterms:W3CDTF">2026-08-17T12:51:12Z</dcterms:modified>
</cp:coreProperties>
</file>